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BAEC2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BAEC2"/>
                </a:solidFill>
                <a:latin typeface="Arial"/>
              </a:rPr>
              <a:t>Benchmark Accuracy vs. Inference Compute Budget (conceptual)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Greedy (System-1)</c:v>
                </c:pt>
              </c:strCache>
            </c:strRef>
          </c:tx>
          <c:spPr>
            <a:solidFill>
              <a:srgbClr val="8BAEC2"/>
            </a:solidFill>
            <a:ln w="31750" cap="flat">
              <a:solidFill>
                <a:srgbClr val="8BAE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AEC2"/>
              </a:solidFill>
              <a:ln w="9525" cap="flat">
                <a:solidFill>
                  <a:srgbClr val="8BAE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4</c:v>
                  </c:pt>
                  <c:pt idx="2">
                    <c:v>16</c:v>
                  </c:pt>
                  <c:pt idx="3">
                    <c:v>64</c:v>
                  </c:pt>
                  <c:pt idx="4">
                    <c:v>256</c:v>
                  </c:pt>
                  <c:pt idx="5">
                    <c:v>1024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53</c:v>
                </c:pt>
                <c:pt idx="2">
                  <c:v>54</c:v>
                </c:pt>
                <c:pt idx="3">
                  <c:v>54</c:v>
                </c:pt>
                <c:pt idx="4">
                  <c:v>55</c:v>
                </c:pt>
                <c:pt idx="5">
                  <c:v>55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Best-of-N Sampling (TTS)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4</c:v>
                  </c:pt>
                  <c:pt idx="2">
                    <c:v>16</c:v>
                  </c:pt>
                  <c:pt idx="3">
                    <c:v>64</c:v>
                  </c:pt>
                  <c:pt idx="4">
                    <c:v>256</c:v>
                  </c:pt>
                  <c:pt idx="5">
                    <c:v>1024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</c:v>
                </c:pt>
                <c:pt idx="1">
                  <c:v>59</c:v>
                </c:pt>
                <c:pt idx="2">
                  <c:v>65</c:v>
                </c:pt>
                <c:pt idx="3">
                  <c:v>70</c:v>
                </c:pt>
                <c:pt idx="4">
                  <c:v>74</c:v>
                </c:pt>
                <c:pt idx="5">
                  <c:v>77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Tree Search (MCTS)</c:v>
                </c:pt>
              </c:strCache>
            </c:strRef>
          </c:tx>
          <c:spPr>
            <a:solidFill>
              <a:srgbClr val="FFB703"/>
            </a:solidFill>
            <a:ln w="31750" cap="flat">
              <a:solidFill>
                <a:srgbClr val="FFB70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703"/>
              </a:solidFill>
              <a:ln w="9525" cap="flat">
                <a:solidFill>
                  <a:srgbClr val="FFB70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4</c:v>
                  </c:pt>
                  <c:pt idx="2">
                    <c:v>16</c:v>
                  </c:pt>
                  <c:pt idx="3">
                    <c:v>64</c:v>
                  </c:pt>
                  <c:pt idx="4">
                    <c:v>256</c:v>
                  </c:pt>
                  <c:pt idx="5">
                    <c:v>1024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52</c:v>
                </c:pt>
                <c:pt idx="1">
                  <c:v>61</c:v>
                </c:pt>
                <c:pt idx="2">
                  <c:v>68</c:v>
                </c:pt>
                <c:pt idx="3">
                  <c:v>74</c:v>
                </c:pt>
                <c:pt idx="4">
                  <c:v>79</c:v>
                </c:pt>
                <c:pt idx="5">
                  <c:v>83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3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323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1828800" cy="1828800"/>
          </a:xfrm>
          <a:prstGeom prst="ellipse">
            <a:avLst/>
          </a:prstGeom>
          <a:solidFill>
            <a:srgbClr val="90E0EF">
              <a:alpha val="12000"/>
            </a:srgbClr>
          </a:solidFill>
          <a:ln w="12700">
            <a:solidFill>
              <a:srgbClr val="90E0E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at Inference Time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Test-Time Compute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486400" cy="36576"/>
          </a:xfrm>
          <a:prstGeom prst="rect">
            <a:avLst/>
          </a:prstGeom>
          <a:solidFill>
            <a:srgbClr val="8BAEC2">
              <a:alpha val="50000"/>
            </a:srgbClr>
          </a:solidFill>
          <a:ln w="12700">
            <a:solidFill>
              <a:srgbClr val="8BAEC2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Intuitive Inference to Deliberate Reasoning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arXiv:2501.02497  (2025)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Yashaswini Dinesh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47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CMPE258 — Deep Learning, SJSU  |  Spring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1A2F45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976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Scaling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67712" y="429768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1A2F45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42976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System-2 Thinking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86784" y="429768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1A2F45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42976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05856" y="429768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1A2F45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42976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24928" y="4297680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1A2F45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4928" y="42976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/ o1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The Training Wall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Training larger models hits data &amp; compute limits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Models still fail on complex reasoning tasks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Reliance on fast 'System-1' intuitive thinking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No mechanism to 'think harder' when needed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4173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Invest MORE compute at inference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0574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Trade extra time for better answers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6974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Enable 'System-2' slow deliberate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3375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No retraining needed — same model, smarter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Instead of training a bigger model, make any model think longer.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of Thinking: System 1 vs System 2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3977640" cy="3931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977640" cy="457200"/>
          </a:xfrm>
          <a:prstGeom prst="rect">
            <a:avLst/>
          </a:prstGeom>
          <a:solidFill>
            <a:srgbClr val="C0392B">
              <a:alpha val="90000"/>
            </a:srgbClr>
          </a:solidFill>
          <a:ln w="12700">
            <a:solidFill>
              <a:srgbClr val="C0392B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38862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System 1 — Fast &amp; Intuitive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response, one forward pass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Pattern-matching from training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simple/familiar tasks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self-checking or revision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errors on hard problems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959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traditional GPT-4 zero-shot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2560320"/>
            <a:ext cx="457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3317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24528" y="283464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EC2"/>
                </a:solidFill>
              </a:rPr>
              <a:t>Inference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EC2"/>
                </a:solidFill>
              </a:rPr>
              <a:t>Scaling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868680"/>
            <a:ext cx="3977640" cy="3931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868680"/>
            <a:ext cx="3977640" cy="457200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68680"/>
            <a:ext cx="38862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System 2 — Slow &amp; Deliberate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1444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with reflection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74920" y="19476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Chain-of-Thought, tree search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24505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&amp; self-corrects answers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74920" y="2953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more compute at inference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74920" y="34564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hard novel problems well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74920" y="3959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o1, DeepSeek-R1, Gemini 2.5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Test-Time Compute Techniques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1828800"/>
          </a:xfrm>
          <a:prstGeom prst="rect">
            <a:avLst/>
          </a:prstGeom>
          <a:solidFill>
            <a:srgbClr val="132335"/>
          </a:solidFill>
          <a:ln w="12700">
            <a:solidFill>
              <a:srgbClr val="0096C7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457200" cy="1828800"/>
          </a:xfrm>
          <a:prstGeom prst="rect">
            <a:avLst/>
          </a:prstGeom>
          <a:solidFill>
            <a:srgbClr val="0096C7">
              <a:alpha val="80000"/>
            </a:srgbClr>
          </a:solidFill>
          <a:ln w="12700">
            <a:solidFill>
              <a:srgbClr val="0096C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9784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380744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intermediate reasoning steps before the final answer. 'Let me think step by step…' forces the model to slow down and show its 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206240" cy="1828800"/>
          </a:xfrm>
          <a:prstGeom prst="rect">
            <a:avLst/>
          </a:prstGeom>
          <a:solidFill>
            <a:srgbClr val="132335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68680"/>
            <a:ext cx="457200" cy="182880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9784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Sampling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380744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 candidate answers and pick the best (majority vote, self-consistency). More samples = higher accuracy on math/code benchmarks.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206240" cy="1828800"/>
          </a:xfrm>
          <a:prstGeom prst="rect">
            <a:avLst/>
          </a:prstGeom>
          <a:solidFill>
            <a:srgbClr val="132335"/>
          </a:solidFill>
          <a:ln w="12700">
            <a:solidFill>
              <a:srgbClr val="48CAE4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880360"/>
            <a:ext cx="457200" cy="1828800"/>
          </a:xfrm>
          <a:prstGeom prst="rect">
            <a:avLst/>
          </a:prstGeom>
          <a:solidFill>
            <a:srgbClr val="48CAE4">
              <a:alpha val="80000"/>
            </a:srgbClr>
          </a:solidFill>
          <a:ln w="12700">
            <a:solidFill>
              <a:srgbClr val="48CAE4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990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Search (MCTS/Beam)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92424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reasoning as a tree. Expand, score, and prune branches. Finds optimal multi-step solutions for math proofs and planning.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206240" cy="1828800"/>
          </a:xfrm>
          <a:prstGeom prst="rect">
            <a:avLst/>
          </a:prstGeom>
          <a:solidFill>
            <a:srgbClr val="132335"/>
          </a:solidFill>
          <a:ln w="12700">
            <a:solidFill>
              <a:srgbClr val="90E0EF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80360"/>
            <a:ext cx="457200" cy="1828800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2990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&amp; Reflection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3392424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reviews its own output, identifies errors, and refines iteratively. Enables dynamic quality improvement without human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Scaling Laws &amp; Real-World Results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2743200" cy="1371600"/>
          </a:xfrm>
          <a:prstGeom prst="rect">
            <a:avLst/>
          </a:prstGeom>
          <a:solidFill>
            <a:srgbClr val="132335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961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Monotonic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554480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increases with more inference compute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43200" cy="1371600"/>
          </a:xfrm>
          <a:prstGeom prst="rect">
            <a:avLst/>
          </a:prstGeom>
          <a:solidFill>
            <a:srgbClr val="132335"/>
          </a:solidFill>
          <a:ln w="12700">
            <a:solidFill>
              <a:srgbClr val="FFB70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8961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~3–5×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gains on math with beam search vs greedy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2743200" cy="1371600"/>
          </a:xfrm>
          <a:prstGeom prst="rect">
            <a:avLst/>
          </a:prstGeom>
          <a:solidFill>
            <a:srgbClr val="132335"/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8961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72200" y="1554480"/>
            <a:ext cx="2743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inference tokens used by o1 vs standard GPT-4</a:t>
            </a:r>
            <a:endParaRPr lang="en-US" sz="1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274320" y="2377440"/>
          <a:ext cx="8595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Embody Test-Time Scaling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1874520"/>
          </a:xfrm>
          <a:prstGeom prst="rect">
            <a:avLst/>
          </a:prstGeom>
          <a:solidFill>
            <a:srgbClr val="1A2F45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4206240" cy="411480"/>
          </a:xfrm>
          <a:prstGeom prst="rect">
            <a:avLst/>
          </a:prstGeom>
          <a:solidFill>
            <a:srgbClr val="6C63FF">
              <a:alpha val="75000"/>
            </a:srgbClr>
          </a:solidFill>
          <a:ln w="12700">
            <a:solidFill>
              <a:srgbClr val="6C63F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o1 / o3  2024–2025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941832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6C63FF">
              <a:alpha val="70000"/>
            </a:srgbClr>
          </a:solidFill>
          <a:ln w="12700">
            <a:solidFill>
              <a:srgbClr val="6C63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4183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44168"/>
            <a:ext cx="3913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major LRM. Uses long 'thinking' tokens with reinforcement learning. Dramatically improved on AIME, GPQA, and coding benchmarks.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206240" cy="1874520"/>
          </a:xfrm>
          <a:prstGeom prst="rect">
            <a:avLst/>
          </a:prstGeom>
          <a:solidFill>
            <a:srgbClr val="1A2F45"/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206240" cy="41148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 Jan 2025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941832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94183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344168"/>
            <a:ext cx="3913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 matching o1-level performance via GRPO reinforcement learning on reasoning traces. Key milestone for the open community.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4206240" cy="1874520"/>
          </a:xfrm>
          <a:prstGeom prst="rect">
            <a:avLst/>
          </a:prstGeom>
          <a:solidFill>
            <a:srgbClr val="1A2F45"/>
          </a:solidFill>
          <a:ln w="12700">
            <a:solidFill>
              <a:srgbClr val="FFB703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80360"/>
            <a:ext cx="4206240" cy="411480"/>
          </a:xfrm>
          <a:prstGeom prst="rect">
            <a:avLst/>
          </a:prstGeom>
          <a:solidFill>
            <a:srgbClr val="FFB703">
              <a:alpha val="75000"/>
            </a:srgbClr>
          </a:solidFill>
          <a:ln w="12700">
            <a:solidFill>
              <a:srgbClr val="FFB703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898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  2025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2953512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9535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355848"/>
            <a:ext cx="3913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multimodal reasoning model. Applies TTS across text, code, and vision tasks. Top scores on LiveCodeBench and MATH.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206240" cy="1874520"/>
          </a:xfrm>
          <a:prstGeom prst="rect">
            <a:avLst/>
          </a:prstGeom>
          <a:solidFill>
            <a:srgbClr val="1A2F45"/>
          </a:solidFill>
          <a:ln w="12700">
            <a:solidFill>
              <a:srgbClr val="02C39A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880360"/>
            <a:ext cx="4206240" cy="411480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898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QwQ / Qwen3  2025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2953512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9535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3355848"/>
            <a:ext cx="3913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Alibaba's reasoning models. Combine deep chain-of-thought with tool use and long-context capabilities. Strong multilingual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 &amp; Future Directions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2816352" cy="1783080"/>
          </a:xfrm>
          <a:prstGeom prst="rect">
            <a:avLst/>
          </a:prstGeom>
          <a:solidFill>
            <a:srgbClr val="132335"/>
          </a:solidFill>
          <a:ln w="12700">
            <a:solidFill>
              <a:srgbClr val="FF6B6B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9601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Efficiency vs.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344168"/>
            <a:ext cx="2377440" cy="22860"/>
          </a:xfrm>
          <a:prstGeom prst="rect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417320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compute = better results but also higher latency and cost. Finding the optimal compute budget per query is still unsolved.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868680"/>
            <a:ext cx="2816352" cy="1783080"/>
          </a:xfrm>
          <a:prstGeom prst="rect">
            <a:avLst/>
          </a:prstGeom>
          <a:solidFill>
            <a:srgbClr val="132335"/>
          </a:solidFill>
          <a:ln w="12700">
            <a:solidFill>
              <a:srgbClr val="FFB703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82696" y="9601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Verification Problem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82696" y="1344168"/>
            <a:ext cx="2377440" cy="22860"/>
          </a:xfrm>
          <a:prstGeom prst="rect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417320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when the model's reasoning is correct? Process reward models (PRMs) are promising but costly to train.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868680"/>
            <a:ext cx="2816352" cy="1783080"/>
          </a:xfrm>
          <a:prstGeom prst="rect">
            <a:avLst/>
          </a:prstGeom>
          <a:solidFill>
            <a:srgbClr val="132335"/>
          </a:solidFill>
          <a:ln w="12700">
            <a:solidFill>
              <a:srgbClr val="AA96DA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2784" y="9601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9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Self-Correction Limits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1344168"/>
            <a:ext cx="2377440" cy="22860"/>
          </a:xfrm>
          <a:prstGeom prst="rect">
            <a:avLst/>
          </a:prstGeom>
          <a:solidFill>
            <a:srgbClr val="AA96DA">
              <a:alpha val="40000"/>
            </a:srgbClr>
          </a:solidFill>
          <a:ln w="12700">
            <a:solidFill>
              <a:srgbClr val="AA96D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417320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get stuck in reasoning loops or confidently reinforce their own errors. True metacognition remains a research challenge.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788920"/>
            <a:ext cx="2816352" cy="1783080"/>
          </a:xfrm>
          <a:prstGeom prst="rect">
            <a:avLst/>
          </a:prstGeom>
          <a:solidFill>
            <a:srgbClr val="132335"/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" y="2880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Benchmarking Gaps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2608" y="3264408"/>
            <a:ext cx="2377440" cy="22860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337560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benchmarks (MATH, AIME) are saturating. New dynamic, adversarial benchmarks are needed to measure TTS gains reliably.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2788920"/>
            <a:ext cx="2816352" cy="1783080"/>
          </a:xfrm>
          <a:prstGeom prst="rect">
            <a:avLst/>
          </a:prstGeom>
          <a:solidFill>
            <a:srgbClr val="132335"/>
          </a:solidFill>
          <a:ln w="12700">
            <a:solidFill>
              <a:srgbClr val="48CAE4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82696" y="2880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Generalization Beyond Text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82696" y="3264408"/>
            <a:ext cx="2377440" cy="22860"/>
          </a:xfrm>
          <a:prstGeom prst="rect">
            <a:avLst/>
          </a:prstGeom>
          <a:solidFill>
            <a:srgbClr val="48CAE4">
              <a:alpha val="40000"/>
            </a:srgbClr>
          </a:solidFill>
          <a:ln w="12700">
            <a:solidFill>
              <a:srgbClr val="48CAE4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3337560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TTS methods are text-centric. Extending deliberate reasoning to vision, audio, and multimodal settings is largely open.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2788920"/>
            <a:ext cx="2816352" cy="1783080"/>
          </a:xfrm>
          <a:prstGeom prst="rect">
            <a:avLst/>
          </a:prstGeom>
          <a:solidFill>
            <a:srgbClr val="132335"/>
          </a:solidFill>
          <a:ln w="12700">
            <a:solidFill>
              <a:srgbClr val="02C39A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2784" y="2880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Training–Inference Synergy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72784" y="3264408"/>
            <a:ext cx="2377440" cy="22860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3337560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models learn to allocate compute dynamically via RL? Optimal coupling of training-time and inference-time scaling is a frontier.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335"/>
          </a:solidFill>
          <a:ln w="12700">
            <a:solidFill>
              <a:srgbClr val="132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scaling axis exists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have three dimensions to scale AI: model size (parameters), training data, and inference compute. TTS unlocks the third.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8046720" cy="13716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98424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9385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slower works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Chain-of-Thought, tree search, and self-correction consistently outperform single-pass inference — especially on hard reasoning tasks.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2807208"/>
            <a:ext cx="8046720" cy="13716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300837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29626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models have caught up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310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showed that open-source RL-trained reasoning models can match proprietary systems. This democratizes advanced AI.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831336"/>
            <a:ext cx="8046720" cy="13716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03250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9867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verification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3342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unsolved problem is teaching models to reliably evaluate their own reasoning — without human labels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90E0EF">
              <a:alpha val="10000"/>
            </a:srgbClr>
          </a:solidFill>
          <a:ln w="12700">
            <a:solidFill>
              <a:srgbClr val="90E0E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029200" cy="27432"/>
          </a:xfrm>
          <a:prstGeom prst="rect">
            <a:avLst/>
          </a:prstGeom>
          <a:solidFill>
            <a:srgbClr val="8BAEC2">
              <a:alpha val="50000"/>
            </a:srgbClr>
          </a:solidFill>
          <a:ln w="12700">
            <a:solidFill>
              <a:srgbClr val="8BAEC2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Paper: 'A Survey of Test-Time Compute' — arXiv:2501.02497 (2025)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Medium Article: [link to your published article]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Slides: [SlideShare link]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 Video: [YouTube link]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Code: github.com/[your-username]/test-time-compute-short-story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Yashaswini Dinesh  |  CMPE258 Deep Learning  |  SJSU  |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at Inference Time: A Survey of Test-Time Compute</dc:title>
  <dc:subject>PptxGenJS Presentation</dc:subject>
  <dc:creator>Yashaswini Dinesh</dc:creator>
  <cp:lastModifiedBy>Yashaswini Dinesh</cp:lastModifiedBy>
  <cp:revision>1</cp:revision>
  <dcterms:created xsi:type="dcterms:W3CDTF">2026-05-10T20:13:23Z</dcterms:created>
  <dcterms:modified xsi:type="dcterms:W3CDTF">2026-05-10T20:13:23Z</dcterms:modified>
</cp:coreProperties>
</file>